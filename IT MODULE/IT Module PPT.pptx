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</p:sldIdLst>
  <p:sldSz cx="9144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60" autoAdjust="0"/>
  </p:normalViewPr>
  <p:slideViewPr>
    <p:cSldViewPr snapToGrid="0" snapToObjects="1">
      <p:cViewPr varScale="1">
        <p:scale>
          <a:sx n="112" d="100"/>
          <a:sy n="112" d="100"/>
        </p:scale>
        <p:origin x="0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199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731972"/>
      </p:ext>
    </p:extLst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66971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72149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551643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140779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224874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556235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129172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174405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512215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889975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457200" y="274638"/>
            <a:ext cx="8229600" cy="114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0">
            <a:off x="457200" y="1600200"/>
            <a:ext cx="8229600" cy="4525963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r>
              <a:rPr lang="en-US" altLang="zh-CN"/>
              <a:t>Click to edit Master text styles</a:t>
            </a:r>
            <a:endParaRPr lang="en-US" altLang="zh-CN"/>
          </a:p>
          <a:p xmlns:a="http://schemas.openxmlformats.org/drawingml/2006/main">
            <a:pPr lvl="1"/>
            <a:r>
              <a:rPr lang="en-US" altLang="zh-CN"/>
              <a:t>Second level</a:t>
            </a:r>
            <a:endParaRPr lang="en-US" altLang="zh-CN"/>
          </a:p>
          <a:p xmlns:a="http://schemas.openxmlformats.org/drawingml/2006/main">
            <a:pPr lvl="2"/>
            <a:r>
              <a:rPr lang="en-US" altLang="zh-CN"/>
              <a:t>Third level</a:t>
            </a:r>
            <a:endParaRPr lang="en-US" altLang="zh-CN"/>
          </a:p>
          <a:p xmlns:a="http://schemas.openxmlformats.org/drawingml/2006/main">
            <a:pPr lvl="3"/>
            <a:r>
              <a:rPr lang="en-US" altLang="zh-CN"/>
              <a:t>Fourth level</a:t>
            </a:r>
            <a:endParaRPr lang="en-US" altLang="zh-CN"/>
          </a:p>
          <a:p xmlns:a="http://schemas.openxmlformats.org/drawingml/2006/main"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457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0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3124200" y="6356349"/>
            <a:ext cx="2895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6553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458451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 rot="0">
            <a:off x="457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1/10/2026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 rot="0">
            <a:off x="3124200" y="6356349"/>
            <a:ext cx="2895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 rot="0">
            <a:off x="6553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229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32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0" charset="0"/>
        <a:buChar char="–"/>
        <a:defRPr sz="28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0" charset="0"/>
        <a:buChar char="–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0" charset="0"/>
        <a:buChar char="»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Introduction to IT and Business Systems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1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Information Technology (IT) refers to the use of computers, software, networks, and digital systems to manage information.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 IT supports business activities by enabling faster communication, efficient data handling, and automation of processes.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 In modern organizations, IT is essential for daily operations, decision-making, and long-term growth.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317407580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Fundamentals of Information Technology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15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505876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The fundamentals of IT include Hardware, Software, Networks, and Data.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3B63D2"/>
                </a:solidFill>
                <a:latin typeface="Calibri" pitchFamily="0" charset="0"/>
                <a:ea typeface="宋体" pitchFamily="0" charset="0"/>
                <a:cs typeface="Lucida Sans"/>
              </a:rPr>
              <a:t>Hardware</a:t>
            </a: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 consists of physical devices such as computers and servers.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3B63D2"/>
                </a:solidFill>
                <a:latin typeface="Calibri" pitchFamily="0" charset="0"/>
                <a:ea typeface="宋体" pitchFamily="0" charset="0"/>
                <a:cs typeface="Lucida Sans"/>
              </a:rPr>
              <a:t>Software</a:t>
            </a: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 includes operating systems and applications that perform tasks.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3B63D2"/>
                </a:solidFill>
                <a:latin typeface="Calibri" pitchFamily="0" charset="0"/>
                <a:ea typeface="宋体" pitchFamily="0" charset="0"/>
                <a:cs typeface="Lucida Sans"/>
              </a:rPr>
              <a:t>Networks</a:t>
            </a: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 connect systems and allow data sharing, while data represents raw facts used by organizations.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227313834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Role of IT in Business Operations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17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IT improves business operations by automating routine tasks, increasing efficiency, and reducing errors. It supports accounting, inventory management, customer service, and communication.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Managers use IT-generated reports to monitor performance and make informed decisions.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584079722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Overview of Business Systems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19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Business systems are integrated applications designed to manage organizational activities. These systems help coordinate different departments and ensure smooth information flow across the organization.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919015964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Enterprise Resource Planning (ERP)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21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3B63D2"/>
                </a:solidFill>
                <a:latin typeface="Calibri" pitchFamily="0" charset="0"/>
                <a:ea typeface="宋体" pitchFamily="0" charset="0"/>
                <a:cs typeface="Lucida Sans"/>
              </a:rPr>
              <a:t>ERP</a:t>
            </a: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 systems integrate core business processes such as Finance,Human Resources(HR), Production, and Supply chain into a single platform.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They improve data accuracy, reduce duplication, and enhance coordination among departments.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425849162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Customer Relationship Management (CRM)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2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3B63D2"/>
                </a:solidFill>
                <a:latin typeface="Calibri" pitchFamily="0" charset="0"/>
                <a:ea typeface="宋体" pitchFamily="0" charset="0"/>
                <a:cs typeface="Lucida Sans"/>
              </a:rPr>
              <a:t>CRM</a:t>
            </a: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 systems focus on Managing customer information, Sales activities, and Customer support.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They help organizations improve customer satisfaction, increase sales, and build long-term relationships.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618194754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rgbClr val="000000"/>
                </a:solidFill>
                <a:latin typeface="Calibri" pitchFamily="0" charset="0"/>
                <a:ea typeface="宋体" pitchFamily="0" charset="0"/>
                <a:cs typeface="Lucida Sans"/>
              </a:rPr>
              <a:t>IT and Business Strategy</a:t>
            </a:r>
            <a:endParaRPr lang="zh-CN" altLang="en-US" sz="4400" b="1" i="0" u="none" strike="noStrike" kern="1200" cap="none" spc="0" baseline="0">
              <a:solidFill>
                <a:srgbClr val="000000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25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IT and business strategy must work together for organizational success. When IT aligns with business goals, it helps achieve competitive advantage through innovation, efficiency, and digital transformation.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618016744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Digital Transformation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27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Digital transformation involves using modern technologies such as Cloud computing, Data analytics, and Automation to redesign business processes.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It helps organizations adapt to changing market conditions and customer expectations.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298598212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Understanding Data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29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Data consists of raw facts and figures that have no meaning on their own.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Organizations collect data from various sources to analyze and convert it into useful information.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803295815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Types of Data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31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Data can be Structured, Unstructured, or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 Semi-structured.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3B63D2"/>
                </a:solidFill>
                <a:latin typeface="Calibri" pitchFamily="0" charset="0"/>
                <a:ea typeface="宋体" pitchFamily="0" charset="0"/>
                <a:cs typeface="Lucida Sans"/>
              </a:rPr>
              <a:t>Structured data</a:t>
            </a: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 is organized in tables,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3B63D2"/>
                </a:solidFill>
                <a:latin typeface="Calibri" pitchFamily="0" charset="0"/>
                <a:ea typeface="宋体" pitchFamily="0" charset="0"/>
                <a:cs typeface="Lucida Sans"/>
              </a:rPr>
              <a:t>Unstructured data</a:t>
            </a: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 includes text and images, and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3B63D2"/>
                </a:solidFill>
                <a:latin typeface="Calibri" pitchFamily="0" charset="0"/>
                <a:ea typeface="宋体" pitchFamily="0" charset="0"/>
                <a:cs typeface="Lucida Sans"/>
              </a:rPr>
              <a:t>Semi-structured data</a:t>
            </a: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 contains elements of both.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191349741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Structured Data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3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3B63D2"/>
                </a:solidFill>
                <a:latin typeface="Calibri" pitchFamily="0" charset="0"/>
                <a:ea typeface="宋体" pitchFamily="0" charset="0"/>
                <a:cs typeface="Lucida Sans"/>
              </a:rPr>
              <a:t>Structured data </a:t>
            </a: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is organized in rows and columns and stored in databases. It is easy to search, analyze, and manage using traditional data tools.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924983300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Unstructured Data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35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3B63D2"/>
                </a:solidFill>
                <a:latin typeface="Calibri" pitchFamily="0" charset="0"/>
                <a:ea typeface="宋体" pitchFamily="0" charset="0"/>
                <a:cs typeface="Lucida Sans"/>
              </a:rPr>
              <a:t>Unstructured data</a:t>
            </a: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 </a:t>
            </a: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has no fixed format and includes emails, videos, images, and social media posts. It is more complex to analyze but contains valuable insights.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634799802"/>
      </p:ext>
    </p:extLst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Semi-Structured Data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37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3B63D2"/>
                </a:solidFill>
                <a:latin typeface="Calibri" pitchFamily="0" charset="0"/>
                <a:ea typeface="宋体" pitchFamily="0" charset="0"/>
                <a:cs typeface="Lucida Sans"/>
              </a:rPr>
              <a:t>Semi-structured data</a:t>
            </a: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 does not follow strict tables but uses tags or markers. Examples include XML and JSON files commonly used in web applications.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746451004"/>
      </p:ext>
    </p:extLst>
  </p:cSld>
  <p:clrMapOvr>
    <a:masterClrMapping/>
  </p:clrMapOvr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Data Sources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39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3B63D2"/>
                </a:solidFill>
                <a:latin typeface="Calibri" pitchFamily="0" charset="0"/>
                <a:ea typeface="宋体" pitchFamily="0" charset="0"/>
                <a:cs typeface="Lucida Sans"/>
              </a:rPr>
              <a:t>Data sources</a:t>
            </a: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 can be internal or external. Internal sources include company databases, while external sources include market reports, websites, and APIs.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788235531"/>
      </p:ext>
    </p:extLst>
  </p:cSld>
  <p:clrMapOvr>
    <a:masterClrMapping/>
  </p:clrMapOvr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Internal Data Sources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41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3B63D2"/>
                </a:solidFill>
                <a:latin typeface="Calibri" pitchFamily="0" charset="0"/>
                <a:ea typeface="宋体" pitchFamily="0" charset="0"/>
                <a:cs typeface="Lucida Sans"/>
              </a:rPr>
              <a:t>Internal data </a:t>
            </a: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is generated within an organization through operations such as sales, finance, and HR activities.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It is usually reliable and easy to access.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958608632"/>
      </p:ext>
    </p:extLst>
  </p:cSld>
  <p:clrMapOvr>
    <a:masterClrMapping/>
  </p:clrMapOvr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External Data Sources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4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3B63D2"/>
                </a:solidFill>
                <a:latin typeface="Calibri" pitchFamily="0" charset="0"/>
                <a:ea typeface="宋体" pitchFamily="0" charset="0"/>
                <a:cs typeface="Lucida Sans"/>
              </a:rPr>
              <a:t>External data </a:t>
            </a: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comes from outside the organization, such as government reports, social media, and third-party providers.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 It helps organizations understand market trends and customer behavior.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314795480"/>
      </p:ext>
    </p:extLst>
  </p:cSld>
  <p:clrMapOvr>
    <a:masterClrMapping/>
  </p:clrMapOvr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Data Collection Methods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45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3B63D2"/>
                </a:solidFill>
                <a:latin typeface="Calibri" pitchFamily="0" charset="0"/>
                <a:ea typeface="宋体" pitchFamily="0" charset="0"/>
                <a:cs typeface="Lucida Sans"/>
              </a:rPr>
              <a:t>Data</a:t>
            </a: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 can be collected through surveys, sensors, transaction systems, and online platforms.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The choice of method depends on the type of data and business needs.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67214227"/>
      </p:ext>
    </p:extLst>
  </p:cSld>
  <p:clrMapOvr>
    <a:masterClrMapping/>
  </p:clrMapOvr>
</p:sld>
</file>

<file path=ppt/slides/slide1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Data Lifecycle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47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The data lifecycle describes the stages data goes through from creation to deletion.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Proper management of each stage ensures data quality and security.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040778249"/>
      </p:ext>
    </p:extLst>
  </p:cSld>
  <p:clrMapOvr>
    <a:masterClrMapping/>
  </p:clrMapOvr>
</p:sld>
</file>

<file path=ppt/slides/slide1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Data Creation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49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Data is created when transactions occur, surveys are conducted, or sensors record information.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Accurate data creation is essential for reliable analysis.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645210496"/>
      </p:ext>
    </p:extLst>
  </p:cSld>
  <p:clrMapOvr>
    <a:masterClrMapping/>
  </p:clrMapOvr>
</p:sld>
</file>

<file path=ppt/slides/slide2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Data Storage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51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Data storage involves saving data in databases, data warehouses, or cloud systems.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Secure storage protects data from loss and unauthorized access.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216936135"/>
      </p:ext>
    </p:extLst>
  </p:cSld>
  <p:clrMapOvr>
    <a:masterClrMapping/>
  </p:clrMapOvr>
</p:sld>
</file>

<file path=ppt/slides/slide2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Data Usage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5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Data is used for reporting, analysis, and decision-making.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Proper usage ensures that data delivers value to the organization.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983024091"/>
      </p:ext>
    </p:extLst>
  </p:cSld>
  <p:clrMapOvr>
    <a:masterClrMapping/>
  </p:clrMapOvr>
</p:sld>
</file>

<file path=ppt/slides/slide2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Data Archiving and Deletion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55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Old or unused data is archived for future reference or deleted when no longer needed.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This helps reduce storage costs and maintain compliance.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450208567"/>
      </p:ext>
    </p:extLst>
  </p:cSld>
  <p:clrMapOvr>
    <a:masterClrMapping/>
  </p:clrMapOvr>
</p:sld>
</file>

<file path=ppt/slides/slide2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Data Quality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57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Data quality refers to the accuracy, completeness, and consistency of data.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High-quality data leads to better decisions and reliable outcomes.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622510029"/>
      </p:ext>
    </p:extLst>
  </p:cSld>
  <p:clrMapOvr>
    <a:masterClrMapping/>
  </p:clrMapOvr>
</p:sld>
</file>

<file path=ppt/slides/slide2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Data Integrity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59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Data integrity ensures that data remains correct and unchanged throughout its lifecycle.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It is maintained through validation rules and security controls.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208318034"/>
      </p:ext>
    </p:extLst>
  </p:cSld>
  <p:clrMapOvr>
    <a:masterClrMapping/>
  </p:clrMapOvr>
</p:sld>
</file>

<file path=ppt/slides/slide2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Introduction to Business Analyst Role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61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A business analyst acts as a bridge between business needs and IT solutions.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They analyze problems, identify requirements, and recommend improvements.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80991951"/>
      </p:ext>
    </p:extLst>
  </p:cSld>
  <p:clrMapOvr>
    <a:masterClrMapping/>
  </p:clrMapOvr>
</p:sld>
</file>

<file path=ppt/slides/slide2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Responsibilities of a Business Analyst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6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Business analysts gather requirements, analyze processes, and communicate with stakeholders.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They ensure that solutions meet business objectives.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410880440"/>
      </p:ext>
    </p:extLst>
  </p:cSld>
  <p:clrMapOvr>
    <a:masterClrMapping/>
  </p:clrMapOvr>
</p:sld>
</file>

<file path=ppt/slides/slide2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Skills of a Business Analyst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65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Key skills include communication, analytical thinking, problem-solving, and domain knowledge.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These skills help analysts understand and address business challenges.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800419560"/>
      </p:ext>
    </p:extLst>
  </p:cSld>
  <p:clrMapOvr>
    <a:masterClrMapping/>
  </p:clrMapOvr>
</p:sld>
</file>

<file path=ppt/slides/slide2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Business Analysis Methodologies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67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Methodologies provide structured approaches to analysis.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Common methods include Waterfall and Agile.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058656175"/>
      </p:ext>
    </p:extLst>
  </p:cSld>
  <p:clrMapOvr>
    <a:masterClrMapping/>
  </p:clrMapOvr>
</p:sld>
</file>

<file path=ppt/slides/slide2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Waterfall Methodology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69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The Waterfall model follows a linear sequence of stages.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Each stage must be completed before moving to the next.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329825460"/>
      </p:ext>
    </p:extLst>
  </p:cSld>
  <p:clrMapOvr>
    <a:masterClrMapping/>
  </p:clrMapOvr>
</p:sld>
</file>

<file path=ppt/slides/slide3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rgbClr val="000000"/>
                </a:solidFill>
                <a:latin typeface="Calibri" pitchFamily="0" charset="0"/>
                <a:ea typeface="宋体" pitchFamily="0" charset="0"/>
                <a:cs typeface="Lucida Sans"/>
              </a:rPr>
              <a:t>Agile Methodology</a:t>
            </a:r>
            <a:endParaRPr lang="zh-CN" altLang="en-US" sz="4400" b="1" i="0" u="none" strike="noStrike" kern="1200" cap="none" spc="0" baseline="0">
              <a:solidFill>
                <a:srgbClr val="000000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71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Agile focuses on flexibility, collaboration, and iterative development. It allows quick adaptation to changing requirements.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945100985"/>
      </p:ext>
    </p:extLst>
  </p:cSld>
  <p:clrMapOvr>
    <a:masterClrMapping/>
  </p:clrMapOvr>
</p:sld>
</file>

<file path=ppt/slides/slide3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Stakeholder Management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7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Stakeholder management involves identifying and engaging people affected by a project.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Effective communication ensures stakeholder satisfaction.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247554601"/>
      </p:ext>
    </p:extLst>
  </p:cSld>
  <p:clrMapOvr>
    <a:masterClrMapping/>
  </p:clrMapOvr>
</p:sld>
</file>

<file path=ppt/slides/slide3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Data vs. Information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75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Data consists of raw facts, while information is processed data with meaning.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Information supports understanding and decision-making.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120272561"/>
      </p:ext>
    </p:extLst>
  </p:cSld>
  <p:clrMapOvr>
    <a:masterClrMapping/>
  </p:clrMapOvr>
</p:sld>
</file>

<file path=ppt/slides/slide3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Transformation from Data to Information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77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Data is processed, organized, and analyzed to become information. Further analysis converts information into knowledge.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806207417"/>
      </p:ext>
    </p:extLst>
  </p:cSld>
  <p:clrMapOvr>
    <a:masterClrMapping/>
  </p:clrMapOvr>
</p:sld>
</file>

<file path=ppt/slides/slide3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Value of Information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79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Information reduces uncertainty, improves planning, and supports strategic decisions.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High-quality information creates competitive advantage.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394099394"/>
      </p:ext>
    </p:extLst>
  </p:cSld>
  <p:clrMapOvr>
    <a:masterClrMapping/>
  </p:clrMapOvr>
</p:sld>
</file>

<file path=ppt/slides/slide3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Data-Driven Decision Making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81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Data-driven decision making uses data analysis rather than intuition.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It leads to more accurate and objective decisions.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899478688"/>
      </p:ext>
    </p:extLst>
  </p:cSld>
  <p:clrMapOvr>
    <a:masterClrMapping/>
  </p:clrMapOvr>
</p:sld>
</file>

<file path=ppt/slides/slide3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Principles of Data-Driven Decisions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8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Decisions should be based on reliable data, proper analysis, and clear objectives.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Data should support, not replace, human judgment.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164173672"/>
      </p:ext>
    </p:extLst>
  </p:cSld>
  <p:clrMapOvr>
    <a:masterClrMapping/>
  </p:clrMapOvr>
</p:sld>
</file>

<file path=ppt/slides/slide3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Benefits of Data-Driven Decisions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85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Benefits include better insights, improved efficiency, and reduced risk.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Organizations become more competitive and responsive.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635911845"/>
      </p:ext>
    </p:extLst>
  </p:cSld>
  <p:clrMapOvr>
    <a:masterClrMapping/>
  </p:clrMapOvr>
</p:sld>
</file>

<file path=ppt/slides/slide3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Steps in Data-Driven Decision Process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87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The process includes defining the problem, collecting data, analyzing results, and making decisions.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Continuous monitoring improves outcomes.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592200503"/>
      </p:ext>
    </p:extLst>
  </p:cSld>
  <p:clrMapOvr>
    <a:masterClrMapping/>
  </p:clrMapOvr>
</p:sld>
</file>

<file path=ppt/slides/slide3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Challenges in Data-Driven Decision Making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89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Challenges include poor data quality, lack of skills, and data privacy concerns.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Organizations must address these issues effectively.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990595536"/>
      </p:ext>
    </p:extLst>
  </p:cSld>
  <p:clrMapOvr>
    <a:masterClrMapping/>
  </p:clrMapOvr>
</p:sld>
</file>

<file path=ppt/slides/slide4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Case Discussion: Retail Industry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91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Retailers use data to analyze sales patterns, manage inventory, and understand customer preferences.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Data-driven insights improve profitability.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98429059"/>
      </p:ext>
    </p:extLst>
  </p:cSld>
  <p:clrMapOvr>
    <a:masterClrMapping/>
  </p:clrMapOvr>
</p:sld>
</file>

<file path=ppt/slides/slide4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Case Discussion: Banking Industry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9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Banks use data for risk assessment, fraud detection, and customer segmentation.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Analytics enhances security and customer service.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65520435"/>
      </p:ext>
    </p:extLst>
  </p:cSld>
  <p:clrMapOvr>
    <a:masterClrMapping/>
  </p:clrMapOvr>
</p:sld>
</file>

<file path=ppt/slides/slide4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Case Discussion: Healthcare Industry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95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Healthcare organizations analyze patient data to improve treatment outcomes and efficiency.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Data-driven approaches support better care delivery.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766259161"/>
      </p:ext>
    </p:extLst>
  </p:cSld>
  <p:clrMapOvr>
    <a:masterClrMapping/>
  </p:clrMapOvr>
</p:sld>
</file>

<file path=ppt/slides/slide4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Introduction to Data Governance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97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Data governance refers to managing data availability, usability, integrity, and security.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It ensures that data is reliable and well-managed.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514621494"/>
      </p:ext>
    </p:extLst>
  </p:cSld>
  <p:clrMapOvr>
    <a:masterClrMapping/>
  </p:clrMapOvr>
</p:sld>
</file>

<file path=ppt/slides/slide4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Data Governance Policies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99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Policies define data standards, access rules, and responsibilities.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They guide consistent and secure data usage.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727515166"/>
      </p:ext>
    </p:extLst>
  </p:cSld>
  <p:clrMapOvr>
    <a:masterClrMapping/>
  </p:clrMapOvr>
</p:sld>
</file>

<file path=ppt/slides/slide4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Roles and Responsibilities in Data Governance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101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Roles include Data owners, Data stewards, and Data users.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Each role ensures proper data management.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784825623"/>
      </p:ext>
    </p:extLst>
  </p:cSld>
  <p:clrMapOvr>
    <a:masterClrMapping/>
  </p:clrMapOvr>
</p:sld>
</file>

<file path=ppt/slides/slide4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Introduction to Data Ethics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10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Data ethics focuses on responsible and fair use of data.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Organizations must avoid misuse and bias.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574458609"/>
      </p:ext>
    </p:extLst>
  </p:cSld>
  <p:clrMapOvr>
    <a:masterClrMapping/>
  </p:clrMapOvr>
</p:sld>
</file>

<file path=ppt/slides/slide4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Privacy and Confidentiality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105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Privacy involves protecting personal data from unauthorized access.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Confidentiality ensures sensitive data is shared only with authorized users.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422446004"/>
      </p:ext>
    </p:extLst>
  </p:cSld>
  <p:clrMapOvr>
    <a:masterClrMapping/>
  </p:clrMapOvr>
</p:sld>
</file>

<file path=ppt/slides/slide4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Transparency and Accountability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107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Organizations must be transparent about data usage and accountable for decisions.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Clear policies build trust.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589322562"/>
      </p:ext>
    </p:extLst>
  </p:cSld>
  <p:clrMapOvr>
    <a:masterClrMapping/>
  </p:clrMapOvr>
</p:sld>
</file>

<file path=ppt/slides/slide4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Regulatory Compliance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109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Regulations such as GDPR and CCPA govern data protection and privacy.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Compliance avoids legal and financial penalties.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677172515"/>
      </p:ext>
    </p:extLst>
  </p:cSld>
  <p:clrMapOvr>
    <a:masterClrMapping/>
  </p:clrMapOvr>
</p:sld>
</file>

<file path=ppt/slides/slide5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Building a Responsible Data Culture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111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A responsible data culture promotes ethical behavior, training, and awareness.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It ensures long-term data sustainability.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782705658"/>
      </p:ext>
    </p:extLst>
  </p:cSld>
  <p:clrMapOvr>
    <a:masterClrMapping/>
  </p:clrMapOvr>
</p:sld>
</file>

<file path=ppt/slides/slide5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Conclusion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11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IT, data, and analytics play a vital role in modern business. </a:t>
            </a:r>
            <a:endParaRPr lang="en-US" altLang="zh-CN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2B4C99"/>
                </a:solidFill>
                <a:latin typeface="Calibri" pitchFamily="0" charset="0"/>
                <a:ea typeface="宋体" pitchFamily="0" charset="0"/>
                <a:cs typeface="Lucida Sans"/>
              </a:rPr>
              <a:t>Understanding these concepts helps organizations make informed and ethical decisions.</a:t>
            </a:r>
            <a:endParaRPr lang="zh-CN" altLang="en-US" sz="3200" b="0" i="0" u="none" strike="noStrike" kern="1200" cap="none" spc="0" baseline="0">
              <a:solidFill>
                <a:srgbClr val="2B4C9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436491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122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description>generated using python-pptx</dc:description>
  <cp:lastModifiedBy>root</cp:lastModifiedBy>
  <cp:revision>1</cp:revision>
  <dcterms:created xsi:type="dcterms:W3CDTF">2013-01-27T09:14:16Z</dcterms:created>
  <dcterms:modified xsi:type="dcterms:W3CDTF">2026-01-10T12:45:15Z</dcterms:modified>
</cp:coreProperties>
</file>